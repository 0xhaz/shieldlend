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ShieldLend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0B981"/>
                </a:solidFill>
              </a:defRPr>
            </a:pPr>
            <a:r>
              <a:t>Privacy-Native BTC Lending Protocol on Starknet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Re{define} Hackathon  |  March 2026  |  by 0xhaz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16</a:t>
            </a:r>
            <a:br/>
            <a:r>
              <a:t>Cairo Contracts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114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3,200+</a:t>
            </a:r>
            <a:br/>
            <a:r>
              <a:t>Lines of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123</a:t>
            </a:r>
            <a:br/>
            <a:r>
              <a:t>Passing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4114800"/>
            <a:ext cx="18288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3</a:t>
            </a:r>
            <a:br/>
            <a:r>
              <a:t>Live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Tracks:  Privacy  |  Bitcoin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THE PROBLEM</a:t>
            </a:r>
            <a:br/>
            <a:br/>
            <a:r>
              <a:t>Every DeFi lending transaction is</a:t>
            </a:r>
            <a:br/>
            <a:r>
              <a:t>fully transparent on-chain:</a:t>
            </a:r>
            <a:br/>
            <a:br/>
            <a:r>
              <a:t>- Deposit amounts visible to all</a:t>
            </a:r>
            <a:br/>
            <a:r>
              <a:t>- Borrow positions publicly tracked</a:t>
            </a:r>
            <a:br/>
            <a:r>
              <a:t>- Liquidation targets easily identified</a:t>
            </a:r>
            <a:br/>
            <a:r>
              <a:t>- Front-running and MEV extraction</a:t>
            </a:r>
            <a:br/>
            <a:r>
              <a:t>- No financial privacy for 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OUR SOLUTION</a:t>
            </a:r>
            <a:br/>
            <a:br/>
            <a:r>
              <a:t>ShieldLend: Privacy as a first-class</a:t>
            </a:r>
            <a:br/>
            <a:r>
              <a:t>feature in BTC lending:</a:t>
            </a:r>
            <a:br/>
            <a:br/>
            <a:r>
              <a:t>- Pedersen commitments hide amounts</a:t>
            </a:r>
            <a:br/>
            <a:r>
              <a:t>- ZK proofs verify without revealing</a:t>
            </a:r>
            <a:br/>
            <a:r>
              <a:t>- Nullifiers prevent double-spends</a:t>
            </a:r>
            <a:br/>
            <a:r>
              <a:t>- Same pool, separate accounting</a:t>
            </a:r>
            <a:br/>
            <a:r>
              <a:t>- Native to Starknet (no external provers)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Protocol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300" b="1">
                <a:solidFill>
                  <a:srgbClr val="9CA3AF"/>
                </a:solidFill>
              </a:defRPr>
            </a:pPr>
            <a:r>
              <a:t>User Layer:    Next.js 16 Frontend  →  starknet-react Wallet  →  Starknet Sepolia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Core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strkBTC / USDC  (75% LTV)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tBTC / USDC  (70% LTV)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strkBTC / tBTC eMode  (95% LTV)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Supporting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SlToken  (deposit receipt)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20040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DebtToken  (debt tracking)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84048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InterestRateModel  (two-slope)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480560"/>
            <a:ext cx="329184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PragmaAdapter  (oracle)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Privacy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3832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CommitmentStore  (Merkle tree)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200400"/>
            <a:ext cx="33832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NullifierRegistry  (double-spend)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3832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ZkVerifier  (proof checking)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480560"/>
            <a:ext cx="33832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ShieldedAccount  (user state)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Liquidation + Yield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256032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LiquidationEngine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120640"/>
            <a:ext cx="256032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DutchAuction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120640"/>
            <a:ext cx="256032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YieldTokenizer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5120640"/>
            <a:ext cx="246888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FlashLoanVault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9CA3AF"/>
                </a:solidFill>
              </a:defRPr>
            </a:pPr>
            <a:r>
              <a:t>Cairo 2.14  |  Scarb 2.11.2  |  snforge 0.57.0  |  Next.js 16  |  React 19  |  Tailwind v4  |  Zustand 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Shielded (Privacy) Lending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Same LendingPool contract, different entrypoints — liquidity shared, accounting separate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43891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1. Client Prep</a:t>
            </a:r>
            <a:br/>
            <a:br/>
            <a:r>
              <a:t>Generate random</a:t>
            </a:r>
            <a:br/>
            <a:r>
              <a:t>blinding factor</a:t>
            </a:r>
            <a:br/>
            <a:br/>
            <a:r>
              <a:t>Compute Pedersen</a:t>
            </a:r>
            <a:br/>
            <a:r>
              <a:t>commitment</a:t>
            </a:r>
            <a:br/>
            <a:r>
              <a:t>= Hash(amount, blind)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63040"/>
            <a:ext cx="2560320" cy="4389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2. Shielded Deposit</a:t>
            </a:r>
            <a:br/>
            <a:br/>
            <a:r>
              <a:t>Submit commitment</a:t>
            </a:r>
            <a:br/>
            <a:r>
              <a:t>+ ZK proof to pool</a:t>
            </a:r>
            <a:br/>
            <a:br/>
            <a:r>
              <a:t>ZkVerifier checks proof</a:t>
            </a:r>
            <a:br/>
            <a:br/>
            <a:r>
              <a:t>CommitmentStore inserts</a:t>
            </a:r>
            <a:br/>
            <a:r>
              <a:t>into Merkle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3. Save Note</a:t>
            </a:r>
            <a:br/>
            <a:br/>
            <a:r>
              <a:t>Store commitment +</a:t>
            </a:r>
            <a:br/>
            <a:r>
              <a:t>blinding + amount</a:t>
            </a:r>
            <a:br/>
            <a:r>
              <a:t>in local storage</a:t>
            </a:r>
            <a:br/>
            <a:br/>
            <a:r>
              <a:t>(Never goes on-chain)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463040"/>
            <a:ext cx="2560320" cy="43891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4. Shielded Borrow</a:t>
            </a:r>
            <a:br/>
            <a:br/>
            <a:r>
              <a:t>Compute nullifier</a:t>
            </a:r>
            <a:br/>
            <a:r>
              <a:t>from secret</a:t>
            </a:r>
            <a:br/>
            <a:br/>
            <a:r>
              <a:t>ZkVerifier checks proof</a:t>
            </a:r>
            <a:br/>
            <a:br/>
            <a:r>
              <a:t>NullifierRegistry</a:t>
            </a:r>
            <a:br/>
            <a:r>
              <a:t>prevents double-spend</a:t>
            </a:r>
            <a:br/>
            <a:br/>
            <a:r>
              <a:t>Borrow commitment</a:t>
            </a:r>
            <a:br/>
            <a:r>
              <a:t>added to Merkle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CA3AF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035040"/>
            <a:ext cx="11247120" cy="54864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A78BFA"/>
                </a:solidFill>
              </a:defRPr>
            </a:pPr>
            <a:r>
              <a:t>Privacy Track:  Pedersen commitments  +  Merkle tree storage  +  Nullifier-based double-spend prevention  +  On-chain STARK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Transparent Lending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560320" cy="347472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Deposit</a:t>
            </a:r>
            <a:br/>
            <a:br/>
            <a:r>
              <a:t>User approves pool</a:t>
            </a:r>
            <a:br/>
            <a:r>
              <a:t>→ deposit(amount)</a:t>
            </a:r>
            <a:br/>
            <a:r>
              <a:t>→ Pool takes collateral</a:t>
            </a:r>
            <a:br/>
            <a:r>
              <a:t>→ Pool mints slTokens</a:t>
            </a:r>
            <a:br/>
            <a:r>
              <a:t>   to user (1:1)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280160"/>
            <a:ext cx="2560320" cy="3474720"/>
          </a:xfrm>
          <a:prstGeom prst="round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Borrow</a:t>
            </a:r>
            <a:br/>
            <a:br/>
            <a:r>
              <a:t>User calls borrow(amount)</a:t>
            </a:r>
            <a:br/>
            <a:r>
              <a:t>→ Pool checks LTV via Oracle</a:t>
            </a:r>
            <a:br/>
            <a:r>
              <a:t>→ collateral_value * LTV</a:t>
            </a:r>
            <a:br/>
            <a:r>
              <a:t>   &gt;= debt_value</a:t>
            </a:r>
            <a:br/>
            <a:r>
              <a:t>→ Pool mints DebtToken</a:t>
            </a:r>
            <a:br/>
            <a:r>
              <a:t>→ Pool sends USDC to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2560320" cy="347472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Repay</a:t>
            </a:r>
            <a:br/>
            <a:br/>
            <a:r>
              <a:t>User calls repay(amount)</a:t>
            </a:r>
            <a:br/>
            <a:r>
              <a:t>→ Pool takes USDC from user</a:t>
            </a:r>
            <a:br/>
            <a:r>
              <a:t>→ Pool burns DebtToken</a:t>
            </a:r>
            <a:br/>
            <a:r>
              <a:t>→ Interest accrued via</a:t>
            </a:r>
            <a:br/>
            <a:r>
              <a:t>   borrow_index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280160"/>
            <a:ext cx="2560320" cy="347472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Withdraw</a:t>
            </a:r>
            <a:br/>
            <a:br/>
            <a:r>
              <a:t>User calls withdraw(amount)</a:t>
            </a:r>
            <a:br/>
            <a:r>
              <a:t>→ Pool checks health factor</a:t>
            </a:r>
            <a:br/>
            <a:r>
              <a:t>→ Pool burns slTokens</a:t>
            </a:r>
            <a:br/>
            <a:r>
              <a:t>→ Pool returns collateral</a:t>
            </a:r>
            <a:br/>
            <a:r>
              <a:t>   to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Interest Rate Model (Two-Slope)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5486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Below optimal utilization:</a:t>
            </a:r>
            <a:br/>
            <a:r>
              <a:t>  rate = base_rate + slope1 × (util / optimal)</a:t>
            </a:r>
            <a:br/>
            <a:br/>
            <a:r>
              <a:t>Above optimal utilization:</a:t>
            </a:r>
            <a:br/>
            <a:r>
              <a:t>  rate = base_rate + slope1 + slope2 × (excess / remaining)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486400"/>
            <a:ext cx="54864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Supply APY = borrow_rate × utilization × (1 - reserve_factor)</a:t>
            </a:r>
            <a:br/>
            <a:br/>
            <a:r>
              <a:t>Live rates:  strkBTC/USDC → 4.5% borrow / 2.0% supply</a:t>
            </a:r>
            <a:br/>
            <a:r>
              <a:t>             tBTC/USDC → 3.9% borrow / 1.3% supply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Yield Tokenization &amp; BTC-Native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Yield Tokenization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828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Tokenize</a:t>
            </a:r>
            <a:br/>
            <a:br/>
            <a:r>
              <a:t>slTokens → PT + YT</a:t>
            </a:r>
            <a:br/>
            <a:r>
              <a:t>(June 30, 2026 maturity)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645920"/>
            <a:ext cx="1828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Trade</a:t>
            </a:r>
            <a:br/>
            <a:br/>
            <a:r>
              <a:t>Fixed yield: sell YT, keep PT</a:t>
            </a:r>
            <a:br/>
            <a:r>
              <a:t>Yield leverage: buy extra YT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1828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Redeem</a:t>
            </a:r>
            <a:br/>
            <a:br/>
            <a:r>
              <a:t>After maturity:</a:t>
            </a:r>
            <a:br/>
            <a:r>
              <a:t>PT → slTokens 1:1</a:t>
            </a:r>
            <a:br/>
            <a:r>
              <a:t>YT → accrued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Bitcoin Track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1828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strkBTC</a:t>
            </a:r>
            <a:br/>
            <a:br/>
            <a:r>
              <a:t>Starknet-native</a:t>
            </a:r>
            <a:br/>
            <a:r>
              <a:t>wrapped BTC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1828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tBTC</a:t>
            </a:r>
            <a:br/>
            <a:br/>
            <a:r>
              <a:t>Threshold Network</a:t>
            </a:r>
            <a:br/>
            <a:r>
              <a:t>BTC 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1645920"/>
            <a:ext cx="1828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eMode</a:t>
            </a:r>
            <a:br/>
            <a:br/>
            <a:r>
              <a:t>95% LTV for</a:t>
            </a:r>
            <a:br/>
            <a:r>
              <a:t>correlated BTC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Additional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Flash Loans</a:t>
            </a:r>
            <a:br/>
            <a:br/>
            <a:r>
              <a:t>Uncollateralized atomic loans</a:t>
            </a:r>
            <a:br/>
            <a:r>
              <a:t>0.09% fee (9 bps)</a:t>
            </a:r>
            <a:br/>
            <a:r>
              <a:t>Same-tx borrow + repay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6634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Dutch Auction</a:t>
            </a:r>
            <a:br/>
            <a:r>
              <a:t>Liquidation</a:t>
            </a:r>
            <a:br/>
            <a:br/>
            <a:r>
              <a:t>Time-decaying price auctions</a:t>
            </a:r>
            <a:br/>
            <a:r>
              <a:t>2-5% liquidation bonus</a:t>
            </a:r>
            <a:br/>
            <a:r>
              <a:t>Healthy markets maintained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6634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Isolated Markets</a:t>
            </a:r>
            <a:br/>
            <a:br/>
            <a:r>
              <a:t>Each pool = separate risk</a:t>
            </a:r>
            <a:br/>
            <a:r>
              <a:t>No cross-contamination</a:t>
            </a:r>
            <a:br/>
            <a:r>
              <a:t>Independent rate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6634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Full Frontend</a:t>
            </a:r>
            <a:br/>
            <a:br/>
            <a:r>
              <a:t>Next.js 16 + React 19</a:t>
            </a:r>
            <a:br/>
            <a:r>
              <a:t>Wallet connection</a:t>
            </a:r>
            <a:br/>
            <a:r>
              <a:t>Live on-chain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ShieldLend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0B981"/>
                </a:solidFill>
              </a:defRPr>
            </a:pPr>
            <a:r>
              <a:t>Privacy-Native BTC Lending on Starknet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</a:defRPr>
            </a:pPr>
            <a:r>
              <a:t>  16 Cairo smart contracts  |  3,200+ lines  |  123 passing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3 live markets on Starknet Sepolia with real on-chain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</a:defRPr>
            </a:pPr>
            <a:r>
              <a:t>  Privacy engine: Pedersen commitments + nullifiers + ZK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Yield tokenization: PT/YT splitting with fixed maturity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CA3AF"/>
                </a:solidFill>
              </a:defRPr>
            </a:pPr>
            <a:r>
              <a:t>  Flash loans, Dutch auction liquidations, eMode for BTC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Full Next.js 16 frontend with wallet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github.com/0xhaz  |  0xhaz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[PASTE ARCHITECTURE DIAGRAM HERE IF NEEDED]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